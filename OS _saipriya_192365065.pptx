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18288000" cy="10287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Times New Roman Bold" panose="02020803070505020304" pitchFamily="18" charset="0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444" autoAdjust="0"/>
    <p:restoredTop sz="94622" autoAdjust="0"/>
  </p:normalViewPr>
  <p:slideViewPr>
    <p:cSldViewPr>
      <p:cViewPr varScale="1">
        <p:scale>
          <a:sx n="58" d="100"/>
          <a:sy n="58" d="100"/>
        </p:scale>
        <p:origin x="6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140629" y="7305599"/>
            <a:ext cx="7619295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spc="-15" dirty="0">
                <a:solidFill>
                  <a:srgbClr val="0C0C0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by:</a:t>
            </a:r>
          </a:p>
          <a:p>
            <a:pPr algn="l">
              <a:lnSpc>
                <a:spcPts val="4320"/>
              </a:lnSpc>
            </a:pPr>
            <a:r>
              <a:rPr lang="en-US" sz="3600" b="1" spc="-37" dirty="0" err="1">
                <a:solidFill>
                  <a:srgbClr val="0C0C0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Saipriya</a:t>
            </a:r>
            <a:r>
              <a:rPr lang="en-US" sz="3600" b="1" spc="-37" dirty="0">
                <a:solidFill>
                  <a:srgbClr val="0C0C0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 (192365065)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488051" y="267853"/>
            <a:ext cx="1702670" cy="2014328"/>
            <a:chOff x="0" y="0"/>
            <a:chExt cx="2270227" cy="26857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6526" r="1" b="-16525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5479754" y="412261"/>
            <a:ext cx="2280171" cy="2014328"/>
            <a:chOff x="0" y="0"/>
            <a:chExt cx="3040228" cy="26857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968" b="-6968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921439" y="2685936"/>
            <a:ext cx="17050760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endParaRPr/>
          </a:p>
        </p:txBody>
      </p:sp>
      <p:grpSp>
        <p:nvGrpSpPr>
          <p:cNvPr id="8" name="Group 8"/>
          <p:cNvGrpSpPr/>
          <p:nvPr/>
        </p:nvGrpSpPr>
        <p:grpSpPr>
          <a:xfrm>
            <a:off x="5815260" y="596836"/>
            <a:ext cx="6025515" cy="678180"/>
            <a:chOff x="0" y="0"/>
            <a:chExt cx="8034020" cy="9042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034020" cy="904240"/>
            </a:xfrm>
            <a:custGeom>
              <a:avLst/>
              <a:gdLst/>
              <a:ahLst/>
              <a:cxnLst/>
              <a:rect l="l" t="t" r="r" b="b"/>
              <a:pathLst>
                <a:path w="8034020" h="904240">
                  <a:moveTo>
                    <a:pt x="0" y="0"/>
                  </a:moveTo>
                  <a:lnTo>
                    <a:pt x="8034020" y="0"/>
                  </a:lnTo>
                  <a:lnTo>
                    <a:pt x="8034020" y="904240"/>
                  </a:lnTo>
                  <a:lnTo>
                    <a:pt x="0" y="904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3121" b="-12312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8034020" cy="9232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spc="-15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SIMATS ENGINEERING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689765" y="1227134"/>
            <a:ext cx="12290965" cy="49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spc="-3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SAVEETHA INSTITUTE OF MEDICAL  AND TECHNICAL SCIENCES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2364" y="7305599"/>
            <a:ext cx="5547360" cy="165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spc="-15">
                <a:solidFill>
                  <a:srgbClr val="0C0C0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Guided by:</a:t>
            </a:r>
          </a:p>
          <a:p>
            <a:pPr algn="l">
              <a:lnSpc>
                <a:spcPts val="4320"/>
              </a:lnSpc>
            </a:pPr>
            <a:r>
              <a:rPr lang="en-US" sz="3600" b="1" spc="-37">
                <a:solidFill>
                  <a:srgbClr val="0C0C0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Dr.Ria sudheen .H</a:t>
            </a:r>
          </a:p>
          <a:p>
            <a:pPr algn="l">
              <a:lnSpc>
                <a:spcPts val="4320"/>
              </a:lnSpc>
            </a:pPr>
            <a:endParaRPr lang="en-US" sz="3600" b="1" spc="-37">
              <a:solidFill>
                <a:srgbClr val="0C0C0C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707212" y="5427202"/>
            <a:ext cx="7631430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CSA0411 OPERATING SYSTEM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-688924" y="2900248"/>
            <a:ext cx="18448849" cy="1808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3"/>
              </a:lnSpc>
            </a:pPr>
            <a:r>
              <a:rPr lang="en-US" sz="5124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Real-Time Operating System (RTOS)</a:t>
            </a:r>
          </a:p>
          <a:p>
            <a:pPr algn="ctr">
              <a:lnSpc>
                <a:spcPts val="7173"/>
              </a:lnSpc>
            </a:pPr>
            <a:r>
              <a:rPr lang="en-US" sz="5124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In traffic signal control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3073" y="0"/>
            <a:ext cx="1366828" cy="1379087"/>
            <a:chOff x="0" y="0"/>
            <a:chExt cx="1822437" cy="18387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2450" cy="1838833"/>
            </a:xfrm>
            <a:custGeom>
              <a:avLst/>
              <a:gdLst/>
              <a:ahLst/>
              <a:cxnLst/>
              <a:rect l="l" t="t" r="r" b="b"/>
              <a:pathLst>
                <a:path w="1822450" h="1838833">
                  <a:moveTo>
                    <a:pt x="0" y="0"/>
                  </a:moveTo>
                  <a:lnTo>
                    <a:pt x="1822450" y="0"/>
                  </a:lnTo>
                  <a:lnTo>
                    <a:pt x="1822450" y="1838833"/>
                  </a:lnTo>
                  <a:lnTo>
                    <a:pt x="0" y="18388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0232" b="-3022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809720" y="46882"/>
            <a:ext cx="1448781" cy="1332205"/>
            <a:chOff x="0" y="0"/>
            <a:chExt cx="1931708" cy="177627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31670" cy="1776222"/>
            </a:xfrm>
            <a:custGeom>
              <a:avLst/>
              <a:gdLst/>
              <a:ahLst/>
              <a:cxnLst/>
              <a:rect l="l" t="t" r="r" b="b"/>
              <a:pathLst>
                <a:path w="1931670" h="1776222">
                  <a:moveTo>
                    <a:pt x="0" y="0"/>
                  </a:moveTo>
                  <a:lnTo>
                    <a:pt x="1931670" y="0"/>
                  </a:lnTo>
                  <a:lnTo>
                    <a:pt x="1931670" y="1776222"/>
                  </a:lnTo>
                  <a:lnTo>
                    <a:pt x="0" y="1776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731" r="-1" b="-4733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10782031" y="3058373"/>
            <a:ext cx="6752080" cy="6312258"/>
          </a:xfrm>
          <a:custGeom>
            <a:avLst/>
            <a:gdLst/>
            <a:ahLst/>
            <a:cxnLst/>
            <a:rect l="l" t="t" r="r" b="b"/>
            <a:pathLst>
              <a:path w="6752080" h="6312258">
                <a:moveTo>
                  <a:pt x="0" y="0"/>
                </a:moveTo>
                <a:lnTo>
                  <a:pt x="6752080" y="0"/>
                </a:lnTo>
                <a:lnTo>
                  <a:pt x="6752080" y="6312258"/>
                </a:lnTo>
                <a:lnTo>
                  <a:pt x="0" y="63122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704157" y="278676"/>
            <a:ext cx="12879687" cy="110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33"/>
              </a:lnSpc>
            </a:pPr>
            <a:r>
              <a:rPr lang="en-US" sz="62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 to Traffic Signal Control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6487" y="1862383"/>
            <a:ext cx="17913215" cy="1195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7720" lvl="1" indent="-368860" algn="l">
              <a:lnSpc>
                <a:spcPts val="4783"/>
              </a:lnSpc>
              <a:buFont typeface="Arial"/>
              <a:buChar char="•"/>
            </a:pPr>
            <a:r>
              <a:rPr lang="en-US" sz="34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traffic signal control system manages traffic lights at road intersections to ensure the</a:t>
            </a:r>
          </a:p>
          <a:p>
            <a:pPr algn="l">
              <a:lnSpc>
                <a:spcPts val="4783"/>
              </a:lnSpc>
            </a:pPr>
            <a:r>
              <a:rPr lang="en-US" sz="34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safe and smooth movement of vehicles and pedestrians.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6487" y="3515573"/>
            <a:ext cx="7797659" cy="839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70"/>
              </a:lnSpc>
            </a:pPr>
            <a:r>
              <a:rPr lang="en-US" sz="476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Role of the Operating System: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1569" y="4711674"/>
            <a:ext cx="9885486" cy="2506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4939" lvl="1" indent="-382469" algn="l">
              <a:lnSpc>
                <a:spcPts val="4960"/>
              </a:lnSpc>
              <a:buFont typeface="Arial"/>
              <a:buChar char="•"/>
            </a:pPr>
            <a:r>
              <a:rPr lang="en-US" sz="354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Controls the timing and sequence of traffic lights.</a:t>
            </a:r>
          </a:p>
          <a:p>
            <a:pPr marL="764939" lvl="1" indent="-382469" algn="l">
              <a:lnSpc>
                <a:spcPts val="4960"/>
              </a:lnSpc>
              <a:buFont typeface="Arial"/>
              <a:buChar char="•"/>
            </a:pPr>
            <a:r>
              <a:rPr lang="en-US" sz="354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Receives information from traffic sensors.</a:t>
            </a:r>
          </a:p>
          <a:p>
            <a:pPr marL="764939" lvl="1" indent="-382469" algn="l">
              <a:lnSpc>
                <a:spcPts val="4960"/>
              </a:lnSpc>
              <a:buFont typeface="Arial"/>
              <a:buChar char="•"/>
            </a:pPr>
            <a:r>
              <a:rPr lang="en-US" sz="354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Manages tasks and communication with hardware.</a:t>
            </a:r>
          </a:p>
          <a:p>
            <a:pPr marL="764939" lvl="1" indent="-382469" algn="l">
              <a:lnSpc>
                <a:spcPts val="4960"/>
              </a:lnSpc>
              <a:buFont typeface="Arial"/>
              <a:buChar char="•"/>
            </a:pPr>
            <a:r>
              <a:rPr lang="en-US" sz="354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the system respond to traffic conditions.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6487" y="7725858"/>
            <a:ext cx="2676839" cy="846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8"/>
              </a:lnSpc>
            </a:pPr>
            <a:r>
              <a:rPr lang="en-US" sz="5127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1569" y="8572500"/>
            <a:ext cx="9630569" cy="117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Traffic lights change from green to yellow and then red according to programmed timings.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1203960" cy="1173480"/>
            <a:chOff x="0" y="0"/>
            <a:chExt cx="1605280" cy="1564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05280" cy="1564640"/>
            </a:xfrm>
            <a:custGeom>
              <a:avLst/>
              <a:gdLst/>
              <a:ahLst/>
              <a:cxnLst/>
              <a:rect l="l" t="t" r="r" b="b"/>
              <a:pathLst>
                <a:path w="1605280" h="1564640">
                  <a:moveTo>
                    <a:pt x="0" y="0"/>
                  </a:moveTo>
                  <a:lnTo>
                    <a:pt x="1605280" y="0"/>
                  </a:lnTo>
                  <a:lnTo>
                    <a:pt x="1605280" y="1564640"/>
                  </a:lnTo>
                  <a:lnTo>
                    <a:pt x="0" y="1564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3055" b="-3305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824960" y="-43082"/>
            <a:ext cx="1463040" cy="1262282"/>
            <a:chOff x="0" y="0"/>
            <a:chExt cx="1950720" cy="16830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50720" cy="1683004"/>
            </a:xfrm>
            <a:custGeom>
              <a:avLst/>
              <a:gdLst/>
              <a:ahLst/>
              <a:cxnLst/>
              <a:rect l="l" t="t" r="r" b="b"/>
              <a:pathLst>
                <a:path w="1950720" h="1683004">
                  <a:moveTo>
                    <a:pt x="0" y="0"/>
                  </a:moveTo>
                  <a:lnTo>
                    <a:pt x="1950720" y="0"/>
                  </a:lnTo>
                  <a:lnTo>
                    <a:pt x="1950720" y="1683004"/>
                  </a:lnTo>
                  <a:lnTo>
                    <a:pt x="0" y="16830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8331" b="-8333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3391506" y="371475"/>
            <a:ext cx="10002732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Type of OS Used and Justification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532837"/>
            <a:ext cx="9582668" cy="786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06"/>
              </a:lnSpc>
            </a:pPr>
            <a:r>
              <a:rPr lang="en-US" sz="443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Real-Time Operating System (RTOS)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1980" y="2643194"/>
            <a:ext cx="17259300" cy="655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7058" lvl="1" indent="-393529" algn="l">
              <a:lnSpc>
                <a:spcPts val="5103"/>
              </a:lnSpc>
              <a:buFont typeface="Arial"/>
              <a:buChar char="•"/>
            </a:pPr>
            <a:r>
              <a:rPr lang="en-US" sz="36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RTOS is an operating system designed to complete tasks within specified time limits.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9353" y="3613100"/>
            <a:ext cx="11684787" cy="789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29"/>
              </a:lnSpc>
            </a:pPr>
            <a:r>
              <a:rPr lang="en-US" sz="444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is it suitable for traffic signal control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1980" y="4735479"/>
            <a:ext cx="13617340" cy="2498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2473" lvl="1" indent="-381236" algn="l">
              <a:lnSpc>
                <a:spcPts val="4944"/>
              </a:lnSpc>
              <a:buFont typeface="Arial"/>
              <a:buChar char="•"/>
            </a:pPr>
            <a:r>
              <a:rPr lang="en-US" sz="353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Quick Response: Responds to sensor inputs within required time limits.</a:t>
            </a:r>
          </a:p>
          <a:p>
            <a:pPr marL="762473" lvl="1" indent="-381236" algn="l">
              <a:lnSpc>
                <a:spcPts val="4944"/>
              </a:lnSpc>
              <a:buFont typeface="Arial"/>
              <a:buChar char="•"/>
            </a:pPr>
            <a:r>
              <a:rPr lang="en-US" sz="353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 Scheduling: Manages tasks according to their priority.</a:t>
            </a:r>
          </a:p>
          <a:p>
            <a:pPr marL="762473" lvl="1" indent="-381236" algn="l">
              <a:lnSpc>
                <a:spcPts val="4944"/>
              </a:lnSpc>
              <a:buFont typeface="Arial"/>
              <a:buChar char="•"/>
            </a:pPr>
            <a:r>
              <a:rPr lang="en-US" sz="353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Predictability: Supports timely execution of important tasks.</a:t>
            </a:r>
          </a:p>
          <a:p>
            <a:pPr marL="762473" lvl="1" indent="-381236" algn="l">
              <a:lnSpc>
                <a:spcPts val="4944"/>
              </a:lnSpc>
              <a:buFont typeface="Arial"/>
              <a:buChar char="•"/>
            </a:pPr>
            <a:r>
              <a:rPr lang="en-US" sz="353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Reliability: Helps maintain consistent system operation.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89602" y="7279344"/>
            <a:ext cx="2101904" cy="715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36"/>
              </a:lnSpc>
            </a:pPr>
            <a:r>
              <a:rPr lang="en-US" sz="402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7950" y="8058785"/>
            <a:ext cx="16967360" cy="119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 pedestrian presses a crossing button, the controller registers the request and schedules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crossing phase according to its rules.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58189" y="340995"/>
            <a:ext cx="9049703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OS Structure and Components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8595" y="26860"/>
            <a:ext cx="1226325" cy="1161860"/>
            <a:chOff x="0" y="0"/>
            <a:chExt cx="1635100" cy="15491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35125" cy="1549146"/>
            </a:xfrm>
            <a:custGeom>
              <a:avLst/>
              <a:gdLst/>
              <a:ahLst/>
              <a:cxnLst/>
              <a:rect l="l" t="t" r="r" b="b"/>
              <a:pathLst>
                <a:path w="1635125" h="1549146">
                  <a:moveTo>
                    <a:pt x="0" y="0"/>
                  </a:moveTo>
                  <a:lnTo>
                    <a:pt x="1635125" y="0"/>
                  </a:lnTo>
                  <a:lnTo>
                    <a:pt x="1635125" y="1549146"/>
                  </a:lnTo>
                  <a:lnTo>
                    <a:pt x="0" y="15491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5444" r="1" b="-35443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6901160" y="72580"/>
            <a:ext cx="1386840" cy="1253300"/>
            <a:chOff x="0" y="0"/>
            <a:chExt cx="1849120" cy="16710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49120" cy="1671066"/>
            </a:xfrm>
            <a:custGeom>
              <a:avLst/>
              <a:gdLst/>
              <a:ahLst/>
              <a:cxnLst/>
              <a:rect l="l" t="t" r="r" b="b"/>
              <a:pathLst>
                <a:path w="1849120" h="1671066">
                  <a:moveTo>
                    <a:pt x="0" y="0"/>
                  </a:moveTo>
                  <a:lnTo>
                    <a:pt x="1849120" y="0"/>
                  </a:lnTo>
                  <a:lnTo>
                    <a:pt x="1849120" y="1671066"/>
                  </a:lnTo>
                  <a:lnTo>
                    <a:pt x="0" y="1671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5689" b="-5689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362208" y="1555285"/>
            <a:ext cx="16232372" cy="656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8934" lvl="1" indent="-394467" algn="l">
              <a:lnSpc>
                <a:spcPts val="5115"/>
              </a:lnSpc>
              <a:buFont typeface="Arial"/>
              <a:buChar char="•"/>
            </a:pPr>
            <a:r>
              <a:rPr lang="en-US" sz="365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RTOS coordinates the hardware and software required to control traffic signals.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18042" y="2451108"/>
            <a:ext cx="4480293" cy="74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6"/>
              </a:lnSpc>
            </a:pPr>
            <a:r>
              <a:rPr lang="en-US" sz="427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Main Components: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64920" y="3349928"/>
            <a:ext cx="12579191" cy="4175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0838" lvl="1" indent="-425419" algn="l">
              <a:lnSpc>
                <a:spcPts val="5517"/>
              </a:lnSpc>
              <a:buFont typeface="Arial"/>
              <a:buChar char="•"/>
            </a:pPr>
            <a:r>
              <a:rPr lang="en-US" sz="39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Hardware: Traffic lights, sensors, and pedestrian buttons.</a:t>
            </a:r>
          </a:p>
          <a:p>
            <a:pPr marL="850838" lvl="1" indent="-425419" algn="l">
              <a:lnSpc>
                <a:spcPts val="5517"/>
              </a:lnSpc>
              <a:buFont typeface="Arial"/>
              <a:buChar char="•"/>
            </a:pPr>
            <a:r>
              <a:rPr lang="en-US" sz="39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Device Drivers: Help the OS communicate with hardware.</a:t>
            </a:r>
          </a:p>
          <a:p>
            <a:pPr marL="850838" lvl="1" indent="-425419" algn="l">
              <a:lnSpc>
                <a:spcPts val="5517"/>
              </a:lnSpc>
              <a:buFont typeface="Arial"/>
              <a:buChar char="•"/>
            </a:pPr>
            <a:r>
              <a:rPr lang="en-US" sz="39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Kernel: Manages tasks and system resources.</a:t>
            </a:r>
          </a:p>
          <a:p>
            <a:pPr marL="850838" lvl="1" indent="-425419" algn="l">
              <a:lnSpc>
                <a:spcPts val="5517"/>
              </a:lnSpc>
              <a:buFont typeface="Arial"/>
              <a:buChar char="•"/>
            </a:pPr>
            <a:r>
              <a:rPr lang="en-US" sz="39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 Scheduler: Decides which task runs and when.</a:t>
            </a:r>
          </a:p>
          <a:p>
            <a:pPr marL="850838" lvl="1" indent="-425419">
              <a:lnSpc>
                <a:spcPts val="5517"/>
              </a:lnSpc>
              <a:buFont typeface="Arial"/>
              <a:buChar char="•"/>
            </a:pPr>
            <a:r>
              <a:rPr lang="en-US" sz="39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Software: Controls traffic light sequences.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28800" y="8028278"/>
            <a:ext cx="4634141" cy="706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43"/>
              </a:lnSpc>
            </a:pPr>
            <a:r>
              <a:rPr lang="en-US" sz="431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working structure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3968" y="8731715"/>
            <a:ext cx="16077192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Sensors → Device Drivers → RTOS Kernel → Traffic Control Application → Traffic Lights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6673" y="46187"/>
            <a:ext cx="1161631" cy="1401766"/>
            <a:chOff x="0" y="0"/>
            <a:chExt cx="1548841" cy="18690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48892" cy="1869059"/>
            </a:xfrm>
            <a:custGeom>
              <a:avLst/>
              <a:gdLst/>
              <a:ahLst/>
              <a:cxnLst/>
              <a:rect l="l" t="t" r="r" b="b"/>
              <a:pathLst>
                <a:path w="1548892" h="1869059">
                  <a:moveTo>
                    <a:pt x="0" y="0"/>
                  </a:moveTo>
                  <a:lnTo>
                    <a:pt x="1548892" y="0"/>
                  </a:lnTo>
                  <a:lnTo>
                    <a:pt x="1548892" y="1869059"/>
                  </a:lnTo>
                  <a:lnTo>
                    <a:pt x="0" y="1869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7083" r="3" b="-1708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928421" y="46187"/>
            <a:ext cx="1359579" cy="1401766"/>
            <a:chOff x="0" y="0"/>
            <a:chExt cx="1812773" cy="186902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12798" cy="1869059"/>
            </a:xfrm>
            <a:custGeom>
              <a:avLst/>
              <a:gdLst/>
              <a:ahLst/>
              <a:cxnLst/>
              <a:rect l="l" t="t" r="r" b="b"/>
              <a:pathLst>
                <a:path w="1812798" h="1869059">
                  <a:moveTo>
                    <a:pt x="0" y="0"/>
                  </a:moveTo>
                  <a:lnTo>
                    <a:pt x="1812798" y="0"/>
                  </a:lnTo>
                  <a:lnTo>
                    <a:pt x="1812798" y="1869059"/>
                  </a:lnTo>
                  <a:lnTo>
                    <a:pt x="0" y="1869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16" r="-1215" b="2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11152452" y="2219698"/>
            <a:ext cx="6455758" cy="7454937"/>
          </a:xfrm>
          <a:custGeom>
            <a:avLst/>
            <a:gdLst/>
            <a:ahLst/>
            <a:cxnLst/>
            <a:rect l="l" t="t" r="r" b="b"/>
            <a:pathLst>
              <a:path w="6455758" h="7454937">
                <a:moveTo>
                  <a:pt x="0" y="0"/>
                </a:moveTo>
                <a:lnTo>
                  <a:pt x="6455758" y="0"/>
                </a:lnTo>
                <a:lnTo>
                  <a:pt x="6455758" y="7454937"/>
                </a:lnTo>
                <a:lnTo>
                  <a:pt x="0" y="74549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552" r="-24386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0" y="2990906"/>
            <a:ext cx="11152452" cy="3599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Timer Services: Measure the duration of traffic light phases.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 Functions: Pause tasks for a specified time.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Periodic Scheduling: Runs tasks at regular intervals.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Interrupt Handling: Helps respond to hardware events.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Services: Provide timing information to the system.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28166" y="163640"/>
            <a:ext cx="10031668" cy="1030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96"/>
              </a:lnSpc>
            </a:pPr>
            <a:r>
              <a:rPr lang="en-US" sz="585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Calls for Timing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68304" y="1338691"/>
            <a:ext cx="9966060" cy="117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Accurate timing helps traffic signals change at </a:t>
            </a:r>
            <a:r>
              <a:rPr lang="en-US" sz="33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thecorrect</a:t>
            </a:r>
            <a:endParaRPr lang="en-US" sz="33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time and respond to road conditions.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9790" y="2662448"/>
            <a:ext cx="6794454" cy="74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19"/>
              </a:lnSpc>
            </a:pPr>
            <a:r>
              <a:rPr lang="en-US" sz="4514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 </a:t>
            </a:r>
            <a:r>
              <a:rPr lang="en-US" sz="4514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TimingServices</a:t>
            </a:r>
            <a:r>
              <a:rPr lang="en-US" sz="4514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692" y="6714546"/>
            <a:ext cx="7148470" cy="647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5"/>
              </a:lnSpc>
            </a:pPr>
            <a:r>
              <a:rPr lang="en-US" sz="3947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 of Traffic Signal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3106" y="7875045"/>
            <a:ext cx="5298228" cy="179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🟢 Green Light — 30seconds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🟡 Yellow Light — 5 seconds</a:t>
            </a:r>
          </a:p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🔴 Red Light — 35 seconds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6673" y="46187"/>
            <a:ext cx="1161631" cy="1401766"/>
            <a:chOff x="0" y="0"/>
            <a:chExt cx="1548841" cy="18690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48892" cy="1869059"/>
            </a:xfrm>
            <a:custGeom>
              <a:avLst/>
              <a:gdLst/>
              <a:ahLst/>
              <a:cxnLst/>
              <a:rect l="l" t="t" r="r" b="b"/>
              <a:pathLst>
                <a:path w="1548892" h="1869059">
                  <a:moveTo>
                    <a:pt x="0" y="0"/>
                  </a:moveTo>
                  <a:lnTo>
                    <a:pt x="1548892" y="0"/>
                  </a:lnTo>
                  <a:lnTo>
                    <a:pt x="1548892" y="1869059"/>
                  </a:lnTo>
                  <a:lnTo>
                    <a:pt x="0" y="1869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7083" r="3" b="-1708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928421" y="46187"/>
            <a:ext cx="1359579" cy="1401766"/>
            <a:chOff x="0" y="0"/>
            <a:chExt cx="1812773" cy="186902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12798" cy="1869059"/>
            </a:xfrm>
            <a:custGeom>
              <a:avLst/>
              <a:gdLst/>
              <a:ahLst/>
              <a:cxnLst/>
              <a:rect l="l" t="t" r="r" b="b"/>
              <a:pathLst>
                <a:path w="1812798" h="1869059">
                  <a:moveTo>
                    <a:pt x="0" y="0"/>
                  </a:moveTo>
                  <a:lnTo>
                    <a:pt x="1812798" y="0"/>
                  </a:lnTo>
                  <a:lnTo>
                    <a:pt x="1812798" y="1869059"/>
                  </a:lnTo>
                  <a:lnTo>
                    <a:pt x="0" y="1869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16" r="-1215" b="2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4457780" y="575620"/>
            <a:ext cx="8326352" cy="1260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56"/>
              </a:lnSpc>
            </a:pPr>
            <a:r>
              <a:rPr lang="en-US" sz="718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68304" y="2622513"/>
            <a:ext cx="16239906" cy="1269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0108" lvl="1" indent="-390054" algn="l">
              <a:lnSpc>
                <a:spcPts val="5058"/>
              </a:lnSpc>
              <a:buFont typeface="Arial"/>
              <a:buChar char="•"/>
            </a:pPr>
            <a:r>
              <a:rPr lang="en-US" sz="36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RTOS helps traffic signals operate with accurate timing and quick responses. </a:t>
            </a:r>
          </a:p>
          <a:p>
            <a:pPr algn="l">
              <a:lnSpc>
                <a:spcPts val="5058"/>
              </a:lnSpc>
            </a:pPr>
            <a:r>
              <a:rPr lang="en-US" sz="36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improves traffic management, reduces congestion, and promotes road safety.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68304" y="4421597"/>
            <a:ext cx="13986322" cy="1348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6010" lvl="1" indent="-413005" algn="l">
              <a:lnSpc>
                <a:spcPts val="5356"/>
              </a:lnSpc>
              <a:buFont typeface="Arial"/>
              <a:buChar char="•"/>
            </a:pPr>
            <a:r>
              <a:rPr lang="en-US" sz="382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coordinating sensors, traffic lights, and control tasks, the system helps reduce traffic congestion and improve road safety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55624" y="3744716"/>
            <a:ext cx="10423579" cy="2145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40"/>
              </a:lnSpc>
            </a:pPr>
            <a:r>
              <a:rPr lang="en-US" sz="13200" b="1">
                <a:solidFill>
                  <a:srgbClr val="163E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458</Words>
  <Application>Microsoft Office PowerPoint</Application>
  <PresentationFormat>Custom</PresentationFormat>
  <Paragraphs>68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Times New Roman</vt:lpstr>
      <vt:lpstr>Times New Roman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 ppt-1.pptx</dc:title>
  <dc:creator>CHARUMATHI</dc:creator>
  <cp:lastModifiedBy>SAIPRIYA SUDHAKAR</cp:lastModifiedBy>
  <cp:revision>4</cp:revision>
  <dcterms:created xsi:type="dcterms:W3CDTF">2006-08-16T00:00:00Z</dcterms:created>
  <dcterms:modified xsi:type="dcterms:W3CDTF">2026-10-23T14:46:42Z</dcterms:modified>
  <dc:identifier>DAHYcJOeiSY</dc:identifier>
</cp:coreProperties>
</file>